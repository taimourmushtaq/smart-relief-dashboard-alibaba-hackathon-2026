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206240"/>
            <a:ext cx="12191695" cy="54864"/>
          </a:xfrm>
          <a:prstGeom prst="rect">
            <a:avLst/>
          </a:prstGeom>
          <a:solidFill>
            <a:srgbClr val="1A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FFFFFF"/>
                </a:solidFill>
                <a:latin typeface="Calibri"/>
              </a:rPr>
              <a:t>Relief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204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B9D3E8"/>
                </a:solidFill>
                <a:latin typeface="Calibri"/>
              </a:rPr>
              <a:t>Real time disaster relief logistics coordination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CA8C2"/>
                </a:solidFill>
                <a:latin typeface="Calibri"/>
              </a:rPr>
              <a:t>Flutter and Firebase application connecting field volunteers and coordinators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B9D3E8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Relief coordination is fragmented and manual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4A4A4A"/>
                </a:solidFill>
                <a:latin typeface="Calibri"/>
              </a:rPr>
              <a:t>When a disaster strikes, such as a flood, earthquake, or humanitarian crisis, relief operations are often coordinated through phone calls, group chats, paper forms, and spreadsheets passed between field workers and coordinators.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377440"/>
            <a:ext cx="10789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1">
                <a:solidFill>
                  <a:srgbClr val="1F5C8A"/>
                </a:solidFill>
                <a:latin typeface="Calibri"/>
              </a:rPr>
              <a:t>▪  No real time visibility.</a:t>
            </a:r>
            <a:r>
              <a:rPr sz="1700" b="0">
                <a:solidFill>
                  <a:srgbClr val="4A4A4A"/>
                </a:solidFill>
                <a:latin typeface="Calibri"/>
              </a:rPr>
              <a:t> Coordinators cannot see what supplies exist, where, or in what quantity.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1">
                <a:solidFill>
                  <a:srgbClr val="1F5C8A"/>
                </a:solidFill>
                <a:latin typeface="Calibri"/>
              </a:rPr>
              <a:t>▪  Slow, error prone request handling.</a:t>
            </a:r>
            <a:r>
              <a:rPr sz="1700" b="0">
                <a:solidFill>
                  <a:srgbClr val="4A4A4A"/>
                </a:solidFill>
                <a:latin typeface="Calibri"/>
              </a:rPr>
              <a:t> Volunteers cannot easily report community needs, and coordinators cannot see requests as they arrive.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1">
                <a:solidFill>
                  <a:srgbClr val="1F5C8A"/>
                </a:solidFill>
                <a:latin typeface="Calibri"/>
              </a:rPr>
              <a:t>▪  Misallocated resources.</a:t>
            </a:r>
            <a:r>
              <a:rPr sz="1700" b="0">
                <a:solidFill>
                  <a:srgbClr val="4A4A4A"/>
                </a:solidFill>
                <a:latin typeface="Calibri"/>
              </a:rPr>
              <a:t> Stock is sent to the wrong location, or critical needs go unmet while other areas are over supplied.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1">
                <a:solidFill>
                  <a:srgbClr val="1F5C8A"/>
                </a:solidFill>
                <a:latin typeface="Calibri"/>
              </a:rPr>
              <a:t>▪  No prioritization.</a:t>
            </a:r>
            <a:r>
              <a:rPr sz="1700" b="0">
                <a:solidFill>
                  <a:srgbClr val="4A4A4A"/>
                </a:solidFill>
                <a:latin typeface="Calibri"/>
              </a:rPr>
              <a:t> Without urgency tracking, life threatening requests can sit in the same queue as low priority ones.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B9D3E8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Who it affects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28800"/>
            <a:ext cx="3383280" cy="329184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828800"/>
            <a:ext cx="3383280" cy="73152"/>
          </a:xfrm>
          <a:prstGeom prst="rect">
            <a:avLst/>
          </a:prstGeom>
          <a:solidFill>
            <a:srgbClr val="1A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0F2A43"/>
                </a:solidFill>
                <a:latin typeface="Calibri"/>
              </a:rPr>
              <a:t>Field Volunteers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6324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4A4A4A"/>
                </a:solidFill>
                <a:latin typeface="Calibri"/>
              </a:rPr>
              <a:t>Need a fast way to report needs and locations without technical overhead.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828800"/>
            <a:ext cx="3383280" cy="329184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6240" y="1828800"/>
            <a:ext cx="3383280" cy="73152"/>
          </a:xfrm>
          <a:prstGeom prst="rect">
            <a:avLst/>
          </a:prstGeom>
          <a:solidFill>
            <a:srgbClr val="1A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219456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0F2A43"/>
                </a:solidFill>
                <a:latin typeface="Calibri"/>
              </a:rPr>
              <a:t>Coordinators and Admins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306324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4A4A4A"/>
                </a:solidFill>
                <a:latin typeface="Calibri"/>
              </a:rPr>
              <a:t>Responsible for inventory, allocation, and making sure aid reaches the right place in time.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1828800"/>
            <a:ext cx="3383280" cy="329184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09560" y="1828800"/>
            <a:ext cx="3383280" cy="73152"/>
          </a:xfrm>
          <a:prstGeom prst="rect">
            <a:avLst/>
          </a:prstGeom>
          <a:solidFill>
            <a:srgbClr val="1A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219456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0F2A43"/>
                </a:solidFill>
                <a:latin typeface="Calibri"/>
              </a:rPr>
              <a:t>Affected Communities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306324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4A4A4A"/>
                </a:solidFill>
                <a:latin typeface="Calibri"/>
              </a:rPr>
              <a:t>Wait longer or receive less effective aid when coordination breaks down.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B9D3E8"/>
                </a:solidFill>
                <a:latin typeface="Calibri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A shared, live system of 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4A4A4A"/>
                </a:solidFill>
                <a:latin typeface="Calibri"/>
              </a:rPr>
              <a:t>Relief Dashboard is a role based, real time logistics application that connects field volunteers directly to coordinators.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103120"/>
            <a:ext cx="5852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 b="1">
                <a:solidFill>
                  <a:srgbClr val="1F5C8A"/>
                </a:solidFill>
                <a:latin typeface="Calibri"/>
              </a:rPr>
              <a:t>▪  Volunteers submit requests</a:t>
            </a:r>
            <a:r>
              <a:rPr sz="1600" b="0">
                <a:solidFill>
                  <a:srgbClr val="4A4A4A"/>
                </a:solidFill>
                <a:latin typeface="Calibri"/>
              </a:rPr>
              <a:t> with location, photo evidence, urgency level, and needed items directly from the field.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 b="1">
                <a:solidFill>
                  <a:srgbClr val="1F5C8A"/>
                </a:solidFill>
                <a:latin typeface="Calibri"/>
              </a:rPr>
              <a:t>▪  Coordinators act in real time,</a:t>
            </a:r>
            <a:r>
              <a:rPr sz="1600" b="0">
                <a:solidFill>
                  <a:srgbClr val="4A4A4A"/>
                </a:solidFill>
                <a:latin typeface="Calibri"/>
              </a:rPr>
              <a:t> checking inventory across warehouses and allocating stock with one tap.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 b="1">
                <a:solidFill>
                  <a:srgbClr val="1F5C8A"/>
                </a:solidFill>
                <a:latin typeface="Calibri"/>
              </a:rPr>
              <a:t>▪  Both roles share a live map view</a:t>
            </a:r>
            <a:r>
              <a:rPr sz="1600" b="0">
                <a:solidFill>
                  <a:srgbClr val="4A4A4A"/>
                </a:solidFill>
                <a:latin typeface="Calibri"/>
              </a:rPr>
              <a:t> of requests and warehouses for full geographic context.</a:t>
            </a:r>
          </a:p>
        </p:txBody>
      </p:sp>
      <p:pic>
        <p:nvPicPr>
          <p:cNvPr id="7" name="Picture 6" descr="volunteer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417320"/>
            <a:ext cx="4846320" cy="464412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766560" y="1417320"/>
            <a:ext cx="4846320" cy="4644127"/>
          </a:xfrm>
          <a:prstGeom prst="rect">
            <a:avLst/>
          </a:prstGeom>
          <a:noFill/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6107167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4A4A4A"/>
                </a:solidFill>
                <a:latin typeface="Calibri"/>
              </a:rPr>
              <a:t>New relief request form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B9D3E8"/>
                </a:solidFill>
                <a:latin typeface="Calibri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Who it serves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F2A43"/>
                </a:solidFill>
                <a:latin typeface="Calibri"/>
              </a:rPr>
              <a:t>Field Volunteer role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3736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4A4A4A"/>
                </a:solidFill>
                <a:latin typeface="Calibri"/>
              </a:rPr>
              <a:t>A lightweight, mobile friendly flow for reporting needs from the field.</a:t>
            </a:r>
          </a:p>
        </p:txBody>
      </p:sp>
      <p:pic>
        <p:nvPicPr>
          <p:cNvPr id="7" name="Picture 6" descr="volunteer-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696" y="2286000"/>
            <a:ext cx="4198527" cy="40233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009696" y="2286000"/>
            <a:ext cx="4198527" cy="4023360"/>
          </a:xfrm>
          <a:prstGeom prst="rect">
            <a:avLst/>
          </a:prstGeom>
          <a:noFill/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9696" y="6355080"/>
            <a:ext cx="419852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4A4A4A"/>
                </a:solidFill>
                <a:latin typeface="Calibri"/>
              </a:rPr>
              <a:t>Volunteer map 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280160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F2A43"/>
                </a:solidFill>
                <a:latin typeface="Calibri"/>
              </a:rPr>
              <a:t>Coordinator / Admin role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4A4A4A"/>
                </a:solidFill>
                <a:latin typeface="Calibri"/>
              </a:rPr>
              <a:t>A full operations dashboard for managing warehouses, inventory, requests, and allocation decisions.</a:t>
            </a:r>
          </a:p>
        </p:txBody>
      </p:sp>
      <p:pic>
        <p:nvPicPr>
          <p:cNvPr id="12" name="Picture 11" descr="admin-reques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7576" y="2286000"/>
            <a:ext cx="4198527" cy="402336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907576" y="2286000"/>
            <a:ext cx="4198527" cy="4023360"/>
          </a:xfrm>
          <a:prstGeom prst="rect">
            <a:avLst/>
          </a:prstGeom>
          <a:noFill/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07576" y="6355080"/>
            <a:ext cx="419852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4A4A4A"/>
                </a:solidFill>
                <a:latin typeface="Calibri"/>
              </a:rPr>
              <a:t>Admin requests screen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B9D3E8"/>
                </a:solidFill>
                <a:latin typeface="Calibri"/>
              </a:rPr>
              <a:t>THE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What this changes for relief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50" b="1">
                <a:solidFill>
                  <a:srgbClr val="1F5C8A"/>
                </a:solidFill>
                <a:latin typeface="Calibri"/>
              </a:rPr>
              <a:t>▪  Faster response times.</a:t>
            </a:r>
            <a:r>
              <a:rPr sz="1550" b="0">
                <a:solidFill>
                  <a:srgbClr val="4A4A4A"/>
                </a:solidFill>
                <a:latin typeface="Calibri"/>
              </a:rPr>
              <a:t> Requests move from submission to allocation in a live pipeline instead of chat threads or paperwork.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50" b="1">
                <a:solidFill>
                  <a:srgbClr val="1F5C8A"/>
                </a:solidFill>
                <a:latin typeface="Calibri"/>
              </a:rPr>
              <a:t>▪  Better resource allocation.</a:t>
            </a:r>
            <a:r>
              <a:rPr sz="1550" b="0">
                <a:solidFill>
                  <a:srgbClr val="4A4A4A"/>
                </a:solidFill>
                <a:latin typeface="Calibri"/>
              </a:rPr>
              <a:t> Coordinators always see current inventory and allocate stock against real, verified requests.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50" b="1">
                <a:solidFill>
                  <a:srgbClr val="1F5C8A"/>
                </a:solidFill>
                <a:latin typeface="Calibri"/>
              </a:rPr>
              <a:t>▪  Prioritized triage.</a:t>
            </a:r>
            <a:r>
              <a:rPr sz="1550" b="0">
                <a:solidFill>
                  <a:srgbClr val="4A4A4A"/>
                </a:solidFill>
                <a:latin typeface="Calibri"/>
              </a:rPr>
              <a:t> Urgency levels such as critical and high surface the most urgent needs first.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50" b="1">
                <a:solidFill>
                  <a:srgbClr val="1F5C8A"/>
                </a:solidFill>
                <a:latin typeface="Calibri"/>
              </a:rPr>
              <a:t>▪  Transparency for everyone.</a:t>
            </a:r>
            <a:r>
              <a:rPr sz="1550" b="0">
                <a:solidFill>
                  <a:srgbClr val="4A4A4A"/>
                </a:solidFill>
                <a:latin typeface="Calibri"/>
              </a:rPr>
              <a:t> Volunteers track the real time status of the requests they submitted.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50" b="1">
                <a:solidFill>
                  <a:srgbClr val="1F5C8A"/>
                </a:solidFill>
                <a:latin typeface="Calibri"/>
              </a:rPr>
              <a:t>▪  Data driven oversight.</a:t>
            </a:r>
            <a:r>
              <a:rPr sz="1550" b="0">
                <a:solidFill>
                  <a:srgbClr val="4A4A4A"/>
                </a:solidFill>
                <a:latin typeface="Calibri"/>
              </a:rPr>
              <a:t> An analytics dashboard gives coordinators an at a glance view of active requests and status distribution.</a:t>
            </a:r>
          </a:p>
        </p:txBody>
      </p:sp>
      <p:pic>
        <p:nvPicPr>
          <p:cNvPr id="6" name="Picture 5" descr="admin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9051" y="1417320"/>
            <a:ext cx="5152737" cy="49377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99051" y="1417320"/>
            <a:ext cx="5152737" cy="4937760"/>
          </a:xfrm>
          <a:prstGeom prst="rect">
            <a:avLst/>
          </a:prstGeom>
          <a:noFill/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9051" y="6400800"/>
            <a:ext cx="515273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4A4A4A"/>
                </a:solidFill>
                <a:latin typeface="Calibri"/>
              </a:rPr>
              <a:t>Admin analytics dashboard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B9D3E8"/>
                </a:solidFill>
                <a:latin typeface="Calibri"/>
              </a:rPr>
              <a:t>THE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Built on Flutter and Firebase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71600"/>
          <a:ext cx="69494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4480560"/>
              </a:tblGrid>
              <a:tr h="538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0F2A43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4A4A4A"/>
                          </a:solidFill>
                        </a:defRPr>
                      </a:pPr>
                      <a:r>
                        <a:t>App framework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4A4A4A"/>
                          </a:solidFill>
                        </a:defRPr>
                      </a:pPr>
                      <a:r>
                        <a:t>Flutter (Dart), Material 3 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4A4A4A"/>
                          </a:solidFill>
                        </a:defRPr>
                      </a:pPr>
                      <a:r>
                        <a:t>Backend and database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4A4A4A"/>
                          </a:solidFill>
                        </a:defRPr>
                      </a:pPr>
                      <a:r>
                        <a:t>Firebase Cloud Firestore, real time streams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4A4A4A"/>
                          </a:solidFill>
                        </a:defRPr>
                      </a:pPr>
                      <a:r>
                        <a:t>Authentication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4A4A4A"/>
                          </a:solidFill>
                        </a:defRPr>
                      </a:pPr>
                      <a:r>
                        <a:t>Firebase Authentication, role based access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4A4A4A"/>
                          </a:solidFill>
                        </a:defRPr>
                      </a:pPr>
                      <a:r>
                        <a:t>File storage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4A4A4A"/>
                          </a:solidFill>
                        </a:defRPr>
                      </a:pPr>
                      <a:r>
                        <a:t>Firebase Storage for request photos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4A4A4A"/>
                          </a:solidFill>
                        </a:defRPr>
                      </a:pPr>
                      <a:r>
                        <a:t>Maps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4A4A4A"/>
                          </a:solidFill>
                        </a:defRPr>
                      </a:pPr>
                      <a:r>
                        <a:t>flutter_map with OpenStreetMap tiles, latlong2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4A4A4A"/>
                          </a:solidFill>
                        </a:defRPr>
                      </a:pPr>
                      <a:r>
                        <a:t>Analytics and charts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4A4A4A"/>
                          </a:solidFill>
                        </a:defRPr>
                      </a:pPr>
                      <a:r>
                        <a:t>fl_chart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4A4A4A"/>
                          </a:solidFill>
                        </a:defRPr>
                      </a:pPr>
                      <a:r>
                        <a:t>State management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4A4A4A"/>
                          </a:solidFill>
                        </a:defRPr>
                      </a:pPr>
                      <a:r>
                        <a:t>provider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4A4A4A"/>
                          </a:solidFill>
                        </a:defRPr>
                      </a:pPr>
                      <a:r>
                        <a:t>Device features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4A4A4A"/>
                          </a:solidFill>
                        </a:defRPr>
                      </a:pPr>
                      <a:r>
                        <a:t>geolocator for location, image_picker for photo capture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0" y="13716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F2A43"/>
                </a:solidFill>
                <a:latin typeface="Calibri"/>
              </a:rPr>
              <a:t>Architecture highlights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874519"/>
            <a:ext cx="3931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400">
                <a:solidFill>
                  <a:srgbClr val="4A4A4A"/>
                </a:solidFill>
                <a:latin typeface="Calibri"/>
              </a:rPr>
              <a:t>▪  Role based access control enforced in the UI and in Firestore security rules.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400">
                <a:solidFill>
                  <a:srgbClr val="4A4A4A"/>
                </a:solidFill>
                <a:latin typeface="Calibri"/>
              </a:rPr>
              <a:t>▪  Real time data sync via Firestore streams, with no manual refresh needed.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400">
                <a:solidFill>
                  <a:srgbClr val="4A4A4A"/>
                </a:solidFill>
                <a:latin typeface="Calibri"/>
              </a:rPr>
              <a:t>▪  Cross platform from a single Dart codebase, covering web, Android, iOS, and desktop.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B9D3E8"/>
                </a:solidFill>
                <a:latin typeface="Calibri"/>
              </a:rPr>
              <a:t>WHAT WE ACTUALLY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End to end functionality across both 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600" b="1">
                <a:solidFill>
                  <a:srgbClr val="1F5C8A"/>
                </a:solidFill>
                <a:latin typeface="Calibri"/>
              </a:rPr>
              <a:t>▪  Authentication and onboarding:</a:t>
            </a:r>
            <a:r>
              <a:rPr sz="1600" b="0">
                <a:solidFill>
                  <a:srgbClr val="4A4A4A"/>
                </a:solidFill>
                <a:latin typeface="Calibri"/>
              </a:rPr>
              <a:t> sign up with role selection, secure login, and an auth gate that routes users to the correct experience.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600" b="1">
                <a:solidFill>
                  <a:srgbClr val="1F5C8A"/>
                </a:solidFill>
                <a:latin typeface="Calibri"/>
              </a:rPr>
              <a:t>▪  Field Volunteer flow:</a:t>
            </a:r>
            <a:r>
              <a:rPr sz="1600" b="0">
                <a:solidFill>
                  <a:srgbClr val="4A4A4A"/>
                </a:solidFill>
                <a:latin typeface="Calibri"/>
              </a:rPr>
              <a:t> new request form, "My Requests" screen with real time status tracking, and a map view of submitted requests.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600" b="1">
                <a:solidFill>
                  <a:srgbClr val="1F5C8A"/>
                </a:solidFill>
                <a:latin typeface="Calibri"/>
              </a:rPr>
              <a:t>▪  Coordinator / Admin flow:</a:t>
            </a:r>
            <a:r>
              <a:rPr sz="1600" b="0">
                <a:solidFill>
                  <a:srgbClr val="4A4A4A"/>
                </a:solidFill>
                <a:latin typeface="Calibri"/>
              </a:rPr>
              <a:t> analytics dashboard, filterable requests screen with one tap stock allocation, inventory management, and an interactive map.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600" b="1">
                <a:solidFill>
                  <a:srgbClr val="1F5C8A"/>
                </a:solidFill>
                <a:latin typeface="Calibri"/>
              </a:rPr>
              <a:t>▪  Shared infrastructure:</a:t>
            </a:r>
            <a:r>
              <a:rPr sz="1600" b="0">
                <a:solidFill>
                  <a:srgbClr val="4A4A4A"/>
                </a:solidFill>
                <a:latin typeface="Calibri"/>
              </a:rPr>
              <a:t> data models for users, requests, inventory, and warehouses; a Firestore service layer; reusable UI components; an app wide Material 3 theme.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600" b="1">
                <a:solidFill>
                  <a:srgbClr val="1F5C8A"/>
                </a:solidFill>
                <a:latin typeface="Calibri"/>
              </a:rPr>
              <a:t>▪  Demo ready:</a:t>
            </a:r>
            <a:r>
              <a:rPr sz="1600" b="0">
                <a:solidFill>
                  <a:srgbClr val="4A4A4A"/>
                </a:solidFill>
                <a:latin typeface="Calibri"/>
              </a:rPr>
              <a:t> seeded demo accounts and sample data across Food, Water, Medicine, Shelter, and Clothing for live walkthroughs.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B9D3E8"/>
                </a:solidFill>
                <a:latin typeface="Calibri"/>
              </a:rPr>
              <a:t>PRODUCT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Screenshots</a:t>
            </a:r>
          </a:p>
        </p:txBody>
      </p:sp>
      <p:pic>
        <p:nvPicPr>
          <p:cNvPr id="5" name="Picture 4" descr="admin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67" y="1417320"/>
            <a:ext cx="2606040" cy="249731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0867" y="1417320"/>
            <a:ext cx="2606040" cy="2497313"/>
          </a:xfrm>
          <a:prstGeom prst="rect">
            <a:avLst/>
          </a:prstGeom>
          <a:noFill/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867" y="3960353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4A4A4A"/>
                </a:solidFill>
                <a:latin typeface="Calibri"/>
              </a:rPr>
              <a:t>Admin dashboard</a:t>
            </a:r>
          </a:p>
        </p:txBody>
      </p:sp>
      <p:pic>
        <p:nvPicPr>
          <p:cNvPr id="8" name="Picture 7" descr="admin-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5507" y="1417320"/>
            <a:ext cx="2606040" cy="249731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375507" y="1417320"/>
            <a:ext cx="2606040" cy="2497313"/>
          </a:xfrm>
          <a:prstGeom prst="rect">
            <a:avLst/>
          </a:prstGeom>
          <a:noFill/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75507" y="3960353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4A4A4A"/>
                </a:solidFill>
                <a:latin typeface="Calibri"/>
              </a:rPr>
              <a:t>Admin map</a:t>
            </a:r>
          </a:p>
        </p:txBody>
      </p:sp>
      <p:pic>
        <p:nvPicPr>
          <p:cNvPr id="11" name="Picture 10" descr="volunteer-ho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147" y="1417320"/>
            <a:ext cx="2606040" cy="2497313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210147" y="1417320"/>
            <a:ext cx="2606040" cy="2497313"/>
          </a:xfrm>
          <a:prstGeom prst="rect">
            <a:avLst/>
          </a:prstGeom>
          <a:noFill/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0147" y="3960353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4A4A4A"/>
                </a:solidFill>
                <a:latin typeface="Calibri"/>
              </a:rPr>
              <a:t>New request form</a:t>
            </a:r>
          </a:p>
        </p:txBody>
      </p:sp>
      <p:pic>
        <p:nvPicPr>
          <p:cNvPr id="14" name="Picture 13" descr="volunteer-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4787" y="1417320"/>
            <a:ext cx="2606040" cy="2497313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9044787" y="1417320"/>
            <a:ext cx="2606040" cy="2497313"/>
          </a:xfrm>
          <a:prstGeom prst="rect">
            <a:avLst/>
          </a:prstGeom>
          <a:noFill/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44787" y="3960353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4A4A4A"/>
                </a:solidFill>
                <a:latin typeface="Calibri"/>
              </a:rPr>
              <a:t>Volunteer map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566160"/>
            <a:ext cx="12191695" cy="54864"/>
          </a:xfrm>
          <a:prstGeom prst="rect">
            <a:avLst/>
          </a:prstGeom>
          <a:solidFill>
            <a:srgbClr val="1A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B9D3E8"/>
                </a:solidFill>
                <a:latin typeface="Calibri"/>
              </a:rPr>
              <a:t>Current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FFFFFF"/>
                </a:solidFill>
                <a:latin typeface="Calibri"/>
              </a:rPr>
              <a:t>Fully functional end to end prototype covering both user roles, running on web and mobile from a single Flutter codebase, backed by live Firebase services.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9377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8CA8C2"/>
                </a:solidFill>
                <a:latin typeface="Calibri"/>
              </a:rPr>
              <a:t>Thank you. Questions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